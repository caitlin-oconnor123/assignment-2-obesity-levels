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4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tlin oconnor" userId="d817ef6d9098563f" providerId="LiveId" clId="{632A02A7-D4C8-4267-9BAB-799602A2D621}"/>
    <pc:docChg chg="modSld">
      <pc:chgData name="caitlin oconnor" userId="d817ef6d9098563f" providerId="LiveId" clId="{632A02A7-D4C8-4267-9BAB-799602A2D621}" dt="2025-12-09T03:00:39.606" v="107" actId="20577"/>
      <pc:docMkLst>
        <pc:docMk/>
      </pc:docMkLst>
      <pc:sldChg chg="modSp mod">
        <pc:chgData name="caitlin oconnor" userId="d817ef6d9098563f" providerId="LiveId" clId="{632A02A7-D4C8-4267-9BAB-799602A2D621}" dt="2025-12-09T02:59:47.533" v="65" actId="20577"/>
        <pc:sldMkLst>
          <pc:docMk/>
          <pc:sldMk cId="2340577679" sldId="257"/>
        </pc:sldMkLst>
        <pc:spChg chg="mod">
          <ac:chgData name="caitlin oconnor" userId="d817ef6d9098563f" providerId="LiveId" clId="{632A02A7-D4C8-4267-9BAB-799602A2D621}" dt="2025-12-09T02:59:47.533" v="65" actId="20577"/>
          <ac:spMkLst>
            <pc:docMk/>
            <pc:sldMk cId="2340577679" sldId="257"/>
            <ac:spMk id="3" creationId="{908FFA72-93D0-323B-AE7D-59E9207F96BD}"/>
          </ac:spMkLst>
        </pc:spChg>
      </pc:sldChg>
      <pc:sldChg chg="modSp mod">
        <pc:chgData name="caitlin oconnor" userId="d817ef6d9098563f" providerId="LiveId" clId="{632A02A7-D4C8-4267-9BAB-799602A2D621}" dt="2025-12-09T02:59:58.345" v="66" actId="20577"/>
        <pc:sldMkLst>
          <pc:docMk/>
          <pc:sldMk cId="453242906" sldId="258"/>
        </pc:sldMkLst>
        <pc:spChg chg="mod">
          <ac:chgData name="caitlin oconnor" userId="d817ef6d9098563f" providerId="LiveId" clId="{632A02A7-D4C8-4267-9BAB-799602A2D621}" dt="2025-12-09T02:59:58.345" v="66" actId="20577"/>
          <ac:spMkLst>
            <pc:docMk/>
            <pc:sldMk cId="453242906" sldId="258"/>
            <ac:spMk id="3" creationId="{68677AE8-EB10-53CC-F4F0-BE2D93AACBD5}"/>
          </ac:spMkLst>
        </pc:spChg>
      </pc:sldChg>
      <pc:sldChg chg="modSp mod">
        <pc:chgData name="caitlin oconnor" userId="d817ef6d9098563f" providerId="LiveId" clId="{632A02A7-D4C8-4267-9BAB-799602A2D621}" dt="2025-12-09T03:00:39.606" v="107" actId="20577"/>
        <pc:sldMkLst>
          <pc:docMk/>
          <pc:sldMk cId="1157219423" sldId="259"/>
        </pc:sldMkLst>
        <pc:spChg chg="mod">
          <ac:chgData name="caitlin oconnor" userId="d817ef6d9098563f" providerId="LiveId" clId="{632A02A7-D4C8-4267-9BAB-799602A2D621}" dt="2025-12-09T03:00:39.606" v="107" actId="20577"/>
          <ac:spMkLst>
            <pc:docMk/>
            <pc:sldMk cId="1157219423" sldId="259"/>
            <ac:spMk id="3" creationId="{FE245430-F0B3-F53B-6175-927D8C2FD37B}"/>
          </ac:spMkLst>
        </pc:spChg>
      </pc:sldChg>
      <pc:sldChg chg="modSp mod">
        <pc:chgData name="caitlin oconnor" userId="d817ef6d9098563f" providerId="LiveId" clId="{632A02A7-D4C8-4267-9BAB-799602A2D621}" dt="2025-12-09T03:00:23.116" v="69" actId="20577"/>
        <pc:sldMkLst>
          <pc:docMk/>
          <pc:sldMk cId="31785616" sldId="260"/>
        </pc:sldMkLst>
        <pc:spChg chg="mod">
          <ac:chgData name="caitlin oconnor" userId="d817ef6d9098563f" providerId="LiveId" clId="{632A02A7-D4C8-4267-9BAB-799602A2D621}" dt="2025-12-09T03:00:23.116" v="69" actId="20577"/>
          <ac:spMkLst>
            <pc:docMk/>
            <pc:sldMk cId="31785616" sldId="260"/>
            <ac:spMk id="3" creationId="{2A2B18CF-F5BC-5D39-4DF6-1D353CFDA1F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12/7/2025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12/7/2025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12/7/2025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rchive.ics.uci.edu/dataset/544/estimation+of+obesity+levels+based+on+eating+habits+and+physical+conditio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80CF1-176B-A08B-7952-25A0D5909E2C}"/>
              </a:ext>
            </a:extLst>
          </p:cNvPr>
          <p:cNvSpPr>
            <a:spLocks noGrp="1"/>
          </p:cNvSpPr>
          <p:nvPr>
            <p:ph type="ctrTitle"/>
          </p:nvPr>
        </p:nvSpPr>
        <p:spPr>
          <a:xfrm>
            <a:off x="492704" y="1315399"/>
            <a:ext cx="10993549" cy="1475013"/>
          </a:xfrm>
        </p:spPr>
        <p:txBody>
          <a:bodyPr>
            <a:normAutofit fontScale="90000"/>
          </a:bodyPr>
          <a:lstStyle/>
          <a:p>
            <a:pPr algn="ctr"/>
            <a:r>
              <a:rPr lang="en-GB" dirty="0"/>
              <a:t>To what extent can the ‘Estimation of Obesity Levels’ dataset predict whether an individual is obese and what factors are the most significant in this prediction?</a:t>
            </a:r>
            <a:endParaRPr lang="en-US" dirty="0"/>
          </a:p>
        </p:txBody>
      </p:sp>
      <p:sp>
        <p:nvSpPr>
          <p:cNvPr id="3" name="Subtitle 2">
            <a:extLst>
              <a:ext uri="{FF2B5EF4-FFF2-40B4-BE49-F238E27FC236}">
                <a16:creationId xmlns:a16="http://schemas.microsoft.com/office/drawing/2014/main" id="{D15C596B-8F9A-951F-ABBD-670F51AC4786}"/>
              </a:ext>
            </a:extLst>
          </p:cNvPr>
          <p:cNvSpPr>
            <a:spLocks noGrp="1"/>
          </p:cNvSpPr>
          <p:nvPr>
            <p:ph type="subTitle" idx="1"/>
          </p:nvPr>
        </p:nvSpPr>
        <p:spPr>
          <a:xfrm>
            <a:off x="492707" y="6015394"/>
            <a:ext cx="10993546" cy="590321"/>
          </a:xfrm>
        </p:spPr>
        <p:txBody>
          <a:bodyPr/>
          <a:lstStyle/>
          <a:p>
            <a:r>
              <a:rPr lang="en-GB" dirty="0">
                <a:solidFill>
                  <a:schemeClr val="bg1"/>
                </a:solidFill>
              </a:rPr>
              <a:t>Caitlin O’Connor 23023933</a:t>
            </a:r>
            <a:endParaRPr lang="en-US" dirty="0">
              <a:solidFill>
                <a:schemeClr val="bg1"/>
              </a:solidFill>
            </a:endParaRPr>
          </a:p>
        </p:txBody>
      </p:sp>
      <p:sp>
        <p:nvSpPr>
          <p:cNvPr id="4" name="TextBox 3">
            <a:extLst>
              <a:ext uri="{FF2B5EF4-FFF2-40B4-BE49-F238E27FC236}">
                <a16:creationId xmlns:a16="http://schemas.microsoft.com/office/drawing/2014/main" id="{DD27D370-E517-BAA7-B4DC-55049E2A49AE}"/>
              </a:ext>
            </a:extLst>
          </p:cNvPr>
          <p:cNvSpPr txBox="1"/>
          <p:nvPr/>
        </p:nvSpPr>
        <p:spPr>
          <a:xfrm>
            <a:off x="707923" y="3303639"/>
            <a:ext cx="10264877" cy="923330"/>
          </a:xfrm>
          <a:prstGeom prst="rect">
            <a:avLst/>
          </a:prstGeom>
          <a:noFill/>
        </p:spPr>
        <p:txBody>
          <a:bodyPr wrap="square" rtlCol="0">
            <a:spAutoFit/>
          </a:bodyPr>
          <a:lstStyle/>
          <a:p>
            <a:r>
              <a:rPr lang="en-GB" dirty="0">
                <a:solidFill>
                  <a:schemeClr val="bg1"/>
                </a:solidFill>
              </a:rPr>
              <a:t>Objectives:</a:t>
            </a:r>
          </a:p>
          <a:p>
            <a:pPr marL="285750" indent="-285750">
              <a:buFont typeface="Arial" panose="020B0604020202020204" pitchFamily="34" charset="0"/>
              <a:buChar char="•"/>
            </a:pPr>
            <a:r>
              <a:rPr lang="en-GB" dirty="0">
                <a:solidFill>
                  <a:schemeClr val="bg1"/>
                </a:solidFill>
              </a:rPr>
              <a:t>Using machine and deep learning techniques, can we predict whether an individual is obese or not?</a:t>
            </a:r>
          </a:p>
          <a:p>
            <a:pPr marL="285750" indent="-285750">
              <a:buFont typeface="Arial" panose="020B0604020202020204" pitchFamily="34" charset="0"/>
              <a:buChar char="•"/>
            </a:pPr>
            <a:r>
              <a:rPr lang="en-GB" dirty="0">
                <a:solidFill>
                  <a:schemeClr val="bg1"/>
                </a:solidFill>
              </a:rPr>
              <a:t>Conclude what the most significant lifestyle factors are</a:t>
            </a:r>
          </a:p>
        </p:txBody>
      </p:sp>
    </p:spTree>
    <p:extLst>
      <p:ext uri="{BB962C8B-B14F-4D97-AF65-F5344CB8AC3E}">
        <p14:creationId xmlns:p14="http://schemas.microsoft.com/office/powerpoint/2010/main" val="3507483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34A3-4A3D-BF99-2019-77FCA6AE7717}"/>
              </a:ext>
            </a:extLst>
          </p:cNvPr>
          <p:cNvSpPr>
            <a:spLocks noGrp="1"/>
          </p:cNvSpPr>
          <p:nvPr>
            <p:ph type="title"/>
          </p:nvPr>
        </p:nvSpPr>
        <p:spPr/>
        <p:txBody>
          <a:bodyPr/>
          <a:lstStyle/>
          <a:p>
            <a:r>
              <a:rPr lang="en-GB" dirty="0"/>
              <a:t>Motivation and background</a:t>
            </a:r>
          </a:p>
        </p:txBody>
      </p:sp>
      <p:sp>
        <p:nvSpPr>
          <p:cNvPr id="3" name="Content Placeholder 2">
            <a:extLst>
              <a:ext uri="{FF2B5EF4-FFF2-40B4-BE49-F238E27FC236}">
                <a16:creationId xmlns:a16="http://schemas.microsoft.com/office/drawing/2014/main" id="{908FFA72-93D0-323B-AE7D-59E9207F96BD}"/>
              </a:ext>
            </a:extLst>
          </p:cNvPr>
          <p:cNvSpPr>
            <a:spLocks noGrp="1"/>
          </p:cNvSpPr>
          <p:nvPr>
            <p:ph idx="1"/>
          </p:nvPr>
        </p:nvSpPr>
        <p:spPr/>
        <p:txBody>
          <a:bodyPr/>
          <a:lstStyle/>
          <a:p>
            <a:r>
              <a:rPr lang="en-GB" dirty="0"/>
              <a:t>Obesity is a great concern in many countries around the world. Obesity is typically measured using the Body Mass Index (BMI) but this method completely rules out genetic or lifestyle factors that might be contributors.</a:t>
            </a:r>
          </a:p>
          <a:p>
            <a:r>
              <a:rPr lang="en-GB" dirty="0"/>
              <a:t>By identifying any lifestyle factors – such as genetics, age and diet – it allows for preventative strategies to be produced if this is something an individual struggles with.</a:t>
            </a:r>
          </a:p>
          <a:p>
            <a:endParaRPr lang="en-GB" dirty="0"/>
          </a:p>
          <a:p>
            <a:r>
              <a:rPr lang="en-GB" dirty="0"/>
              <a:t>Personally, I wanted to look at this dataset as it intrigued me the most. Before this project, I thought that obesity was solely personal to an individual’s diet and exercise. However, finding other factors, such as having a family history of being overweight, changed my views on this. The genetic disposition an individual is born with (like having a slower metabolism and having a higher appetite) and the upbringing of an individual can make them more likely to be obese. </a:t>
            </a:r>
          </a:p>
        </p:txBody>
      </p:sp>
    </p:spTree>
    <p:extLst>
      <p:ext uri="{BB962C8B-B14F-4D97-AF65-F5344CB8AC3E}">
        <p14:creationId xmlns:p14="http://schemas.microsoft.com/office/powerpoint/2010/main" val="2340577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21BE-5AFE-444E-E20B-E71E82096ECF}"/>
              </a:ext>
            </a:extLst>
          </p:cNvPr>
          <p:cNvSpPr>
            <a:spLocks noGrp="1"/>
          </p:cNvSpPr>
          <p:nvPr>
            <p:ph type="title"/>
          </p:nvPr>
        </p:nvSpPr>
        <p:spPr/>
        <p:txBody>
          <a:bodyPr/>
          <a:lstStyle/>
          <a:p>
            <a:r>
              <a:rPr lang="en-GB" dirty="0"/>
              <a:t>Data overview</a:t>
            </a:r>
          </a:p>
        </p:txBody>
      </p:sp>
      <p:sp>
        <p:nvSpPr>
          <p:cNvPr id="3" name="Content Placeholder 2">
            <a:extLst>
              <a:ext uri="{FF2B5EF4-FFF2-40B4-BE49-F238E27FC236}">
                <a16:creationId xmlns:a16="http://schemas.microsoft.com/office/drawing/2014/main" id="{68677AE8-EB10-53CC-F4F0-BE2D93AACBD5}"/>
              </a:ext>
            </a:extLst>
          </p:cNvPr>
          <p:cNvSpPr>
            <a:spLocks noGrp="1"/>
          </p:cNvSpPr>
          <p:nvPr>
            <p:ph idx="1"/>
          </p:nvPr>
        </p:nvSpPr>
        <p:spPr>
          <a:xfrm>
            <a:off x="581192" y="1907458"/>
            <a:ext cx="11029615" cy="4739148"/>
          </a:xfrm>
        </p:spPr>
        <p:txBody>
          <a:bodyPr>
            <a:normAutofit fontScale="92500" lnSpcReduction="10000"/>
          </a:bodyPr>
          <a:lstStyle/>
          <a:p>
            <a:r>
              <a:rPr lang="en-GB" dirty="0"/>
              <a:t>The data used in this project was:</a:t>
            </a:r>
          </a:p>
          <a:p>
            <a:pPr marL="0" indent="0">
              <a:buNone/>
            </a:pPr>
            <a:r>
              <a:rPr lang="en-GB" u="sng" dirty="0">
                <a:hlinkClick r:id="rId2"/>
              </a:rPr>
              <a:t>Estimation of Obesity Levels Based On Eating Habits and Physical Condition - UCI Machine Learning Repository</a:t>
            </a:r>
            <a:endParaRPr lang="en-GB" dirty="0"/>
          </a:p>
          <a:p>
            <a:r>
              <a:rPr lang="en-GB" dirty="0"/>
              <a:t>The data set contains 17 variables and 2,111 instances.</a:t>
            </a:r>
          </a:p>
          <a:p>
            <a:r>
              <a:rPr lang="en-GB" dirty="0"/>
              <a:t>This dataset contains data on individuals from Mexico, Peru and Columbia and their lifestyle choices.</a:t>
            </a:r>
          </a:p>
          <a:p>
            <a:endParaRPr lang="en-GB" dirty="0"/>
          </a:p>
          <a:p>
            <a:r>
              <a:rPr lang="en-GB" dirty="0"/>
              <a:t>Limitations of the data:</a:t>
            </a:r>
          </a:p>
          <a:p>
            <a:pPr lvl="2"/>
            <a:r>
              <a:rPr lang="en-GB" sz="1600" dirty="0"/>
              <a:t>Data leakage – I had to remove 2 variables from the data (height and weight). Keeping them in the dataset would have allowed the models to calculate obesity using BMI rather than looking at lifestyle factors.</a:t>
            </a:r>
          </a:p>
          <a:p>
            <a:endParaRPr lang="en-GB" dirty="0"/>
          </a:p>
          <a:p>
            <a:r>
              <a:rPr lang="en-GB" dirty="0"/>
              <a:t>The variables found to be the most significant are:</a:t>
            </a:r>
          </a:p>
          <a:p>
            <a:pPr lvl="2"/>
            <a:r>
              <a:rPr lang="en-GB" sz="1600" dirty="0"/>
              <a:t>Family history with overweight</a:t>
            </a:r>
          </a:p>
          <a:p>
            <a:pPr lvl="2"/>
            <a:r>
              <a:rPr lang="en-GB" sz="1600" dirty="0"/>
              <a:t>Age</a:t>
            </a:r>
          </a:p>
          <a:p>
            <a:pPr lvl="2"/>
            <a:r>
              <a:rPr lang="en-GB" sz="1600" dirty="0"/>
              <a:t>High calorie food consumption (FAVC)</a:t>
            </a:r>
          </a:p>
          <a:p>
            <a:pPr lvl="2"/>
            <a:r>
              <a:rPr lang="en-GB" sz="1600" dirty="0"/>
              <a:t>Number of main meals consumed daily (NCP)</a:t>
            </a:r>
          </a:p>
        </p:txBody>
      </p:sp>
    </p:spTree>
    <p:extLst>
      <p:ext uri="{BB962C8B-B14F-4D97-AF65-F5344CB8AC3E}">
        <p14:creationId xmlns:p14="http://schemas.microsoft.com/office/powerpoint/2010/main" val="453242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069E9-299C-E213-0DC4-AFCDA99AE185}"/>
              </a:ext>
            </a:extLst>
          </p:cNvPr>
          <p:cNvSpPr>
            <a:spLocks noGrp="1"/>
          </p:cNvSpPr>
          <p:nvPr>
            <p:ph type="title"/>
          </p:nvPr>
        </p:nvSpPr>
        <p:spPr/>
        <p:txBody>
          <a:bodyPr/>
          <a:lstStyle/>
          <a:p>
            <a:r>
              <a:rPr lang="en-GB" dirty="0"/>
              <a:t>Methodology</a:t>
            </a:r>
          </a:p>
        </p:txBody>
      </p:sp>
      <p:sp>
        <p:nvSpPr>
          <p:cNvPr id="3" name="Content Placeholder 2">
            <a:extLst>
              <a:ext uri="{FF2B5EF4-FFF2-40B4-BE49-F238E27FC236}">
                <a16:creationId xmlns:a16="http://schemas.microsoft.com/office/drawing/2014/main" id="{FE245430-F0B3-F53B-6175-927D8C2FD37B}"/>
              </a:ext>
            </a:extLst>
          </p:cNvPr>
          <p:cNvSpPr>
            <a:spLocks noGrp="1"/>
          </p:cNvSpPr>
          <p:nvPr>
            <p:ph idx="1"/>
          </p:nvPr>
        </p:nvSpPr>
        <p:spPr>
          <a:xfrm>
            <a:off x="581192" y="2477541"/>
            <a:ext cx="11029615" cy="3678303"/>
          </a:xfrm>
        </p:spPr>
        <p:txBody>
          <a:bodyPr/>
          <a:lstStyle/>
          <a:p>
            <a:r>
              <a:rPr lang="en-GB" dirty="0"/>
              <a:t>Using both machine and deep learning models to help identify the most significant factor when predicting obesity.</a:t>
            </a:r>
          </a:p>
          <a:p>
            <a:r>
              <a:rPr lang="en-GB" dirty="0"/>
              <a:t>Models used:</a:t>
            </a:r>
          </a:p>
          <a:p>
            <a:pPr lvl="2"/>
            <a:r>
              <a:rPr lang="en-GB" sz="1600" dirty="0"/>
              <a:t>Logistic Regression (GLM) – used as a baseline as it is </a:t>
            </a:r>
            <a:r>
              <a:rPr lang="en-GB" sz="1600"/>
              <a:t>the simplest model</a:t>
            </a:r>
            <a:endParaRPr lang="en-GB" sz="1600" dirty="0"/>
          </a:p>
          <a:p>
            <a:pPr lvl="2"/>
            <a:r>
              <a:rPr lang="en-GB" sz="1600" dirty="0"/>
              <a:t>Decision Tree – used for the visual interpretability of the hierarchal diagram</a:t>
            </a:r>
          </a:p>
          <a:p>
            <a:pPr lvl="2"/>
            <a:r>
              <a:rPr lang="en-GB" sz="1600" dirty="0"/>
              <a:t>Random Forest – used for its use of multiple trees to reduce error</a:t>
            </a:r>
          </a:p>
          <a:p>
            <a:pPr lvl="2"/>
            <a:r>
              <a:rPr lang="en-GB" sz="1600" dirty="0"/>
              <a:t>Neural Networks – deep learning, used to capture the complex relationships between the factors in the dataset</a:t>
            </a:r>
            <a:endParaRPr lang="en-GB" dirty="0"/>
          </a:p>
          <a:p>
            <a:endParaRPr lang="en-GB" dirty="0"/>
          </a:p>
          <a:p>
            <a:r>
              <a:rPr lang="en-GB" dirty="0"/>
              <a:t>I used a progressive approach to my methodology, starting with the simplest model (Logistic Regression) and ending with the Neural Networks.</a:t>
            </a:r>
          </a:p>
          <a:p>
            <a:endParaRPr lang="en-GB" dirty="0"/>
          </a:p>
          <a:p>
            <a:pPr marL="630000" lvl="2" indent="0">
              <a:buNone/>
            </a:pPr>
            <a:endParaRPr lang="en-GB" sz="1600" dirty="0"/>
          </a:p>
        </p:txBody>
      </p:sp>
    </p:spTree>
    <p:extLst>
      <p:ext uri="{BB962C8B-B14F-4D97-AF65-F5344CB8AC3E}">
        <p14:creationId xmlns:p14="http://schemas.microsoft.com/office/powerpoint/2010/main" val="1157219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4C0CB-6A3C-970E-B4F1-A43E713A49C1}"/>
              </a:ext>
            </a:extLst>
          </p:cNvPr>
          <p:cNvSpPr>
            <a:spLocks noGrp="1"/>
          </p:cNvSpPr>
          <p:nvPr>
            <p:ph type="title"/>
          </p:nvPr>
        </p:nvSpPr>
        <p:spPr/>
        <p:txBody>
          <a:bodyPr/>
          <a:lstStyle/>
          <a:p>
            <a:r>
              <a:rPr lang="en-GB" dirty="0"/>
              <a:t>Model comparisons</a:t>
            </a:r>
          </a:p>
        </p:txBody>
      </p:sp>
      <p:sp>
        <p:nvSpPr>
          <p:cNvPr id="3" name="Content Placeholder 2">
            <a:extLst>
              <a:ext uri="{FF2B5EF4-FFF2-40B4-BE49-F238E27FC236}">
                <a16:creationId xmlns:a16="http://schemas.microsoft.com/office/drawing/2014/main" id="{2A2B18CF-F5BC-5D39-4DF6-1D353CFDA1F8}"/>
              </a:ext>
            </a:extLst>
          </p:cNvPr>
          <p:cNvSpPr>
            <a:spLocks noGrp="1"/>
          </p:cNvSpPr>
          <p:nvPr>
            <p:ph idx="1"/>
          </p:nvPr>
        </p:nvSpPr>
        <p:spPr/>
        <p:txBody>
          <a:bodyPr/>
          <a:lstStyle/>
          <a:p>
            <a:r>
              <a:rPr lang="en-GB" dirty="0"/>
              <a:t>Performance:</a:t>
            </a:r>
          </a:p>
          <a:p>
            <a:pPr lvl="2"/>
            <a:r>
              <a:rPr lang="en-GB" sz="1600" dirty="0"/>
              <a:t>As the models were analysed, the accuracy increased</a:t>
            </a:r>
          </a:p>
          <a:p>
            <a:pPr lvl="2"/>
            <a:r>
              <a:rPr lang="en-GB" sz="1600" dirty="0">
                <a:solidFill>
                  <a:srgbClr val="3D3D3D"/>
                </a:solidFill>
              </a:rPr>
              <a:t>Starting with logistic regression </a:t>
            </a:r>
            <a:r>
              <a:rPr lang="en-GB" sz="1600" dirty="0"/>
              <a:t>(77.73%) and ending with neural networks (86.43%) - ~9% difference</a:t>
            </a:r>
          </a:p>
          <a:p>
            <a:r>
              <a:rPr lang="en-GB" sz="2000" dirty="0"/>
              <a:t>Key Findings:</a:t>
            </a:r>
          </a:p>
          <a:p>
            <a:pPr lvl="2"/>
            <a:r>
              <a:rPr lang="en-GB" sz="1600" dirty="0"/>
              <a:t>Neural network classification outperformed the machine learning classifications in accuracy however this model lacks interpretability so a decision tree might be better for visualisation of the results.</a:t>
            </a:r>
          </a:p>
          <a:p>
            <a:r>
              <a:rPr lang="en-GB" dirty="0"/>
              <a:t>Overall:</a:t>
            </a:r>
          </a:p>
          <a:p>
            <a:pPr lvl="2"/>
            <a:r>
              <a:rPr lang="en-GB" sz="1600" dirty="0"/>
              <a:t>All 4 of the classifications found that the genetic factor of having a family history with being overweight is the strongest predictor of obesity, with dietary variables as secondary predictors.</a:t>
            </a:r>
          </a:p>
          <a:p>
            <a:pPr marL="630000" lvl="2" indent="0">
              <a:buNone/>
            </a:pPr>
            <a:endParaRPr lang="en-GB" sz="1600" dirty="0"/>
          </a:p>
        </p:txBody>
      </p:sp>
    </p:spTree>
    <p:extLst>
      <p:ext uri="{BB962C8B-B14F-4D97-AF65-F5344CB8AC3E}">
        <p14:creationId xmlns:p14="http://schemas.microsoft.com/office/powerpoint/2010/main" val="3178561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otalTime>2956</TotalTime>
  <Words>556</Words>
  <Application>Microsoft Office PowerPoint</Application>
  <PresentationFormat>Widescreen</PresentationFormat>
  <Paragraphs>41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Gill Sans MT</vt:lpstr>
      <vt:lpstr>Wingdings 2</vt:lpstr>
      <vt:lpstr>Dividend</vt:lpstr>
      <vt:lpstr>To what extent can the ‘Estimation of Obesity Levels’ dataset predict whether an individual is obese and what factors are the most significant in this prediction?</vt:lpstr>
      <vt:lpstr>Motivation and background</vt:lpstr>
      <vt:lpstr>Data overview</vt:lpstr>
      <vt:lpstr>Methodology</vt:lpstr>
      <vt:lpstr>Model comparisons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dc:title>
  <dc:creator>caitlin oconnor</dc:creator>
  <cp:lastModifiedBy>caitlin oconnor</cp:lastModifiedBy>
  <cp:revision>3</cp:revision>
  <dcterms:created xsi:type="dcterms:W3CDTF">2025-11-25T14:59:19Z</dcterms:created>
  <dcterms:modified xsi:type="dcterms:W3CDTF">2025-12-09T03:00:41Z</dcterms:modified>
</cp:coreProperties>
</file>